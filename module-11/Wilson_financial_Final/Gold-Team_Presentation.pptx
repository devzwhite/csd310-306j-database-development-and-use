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0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4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 Added</c:v>
                </c:pt>
              </c:strCache>
            </c:strRef>
          </c:tx>
          <c:spPr>
            <a:solidFill>
              <a:srgbClr val="8B650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 2024</c:v>
                </c:pt>
                <c:pt idx="1">
                  <c:v>Feb 2024</c:v>
                </c:pt>
                <c:pt idx="2">
                  <c:v>Mar 2024</c:v>
                </c:pt>
                <c:pt idx="3">
                  <c:v>Apr 2024</c:v>
                </c:pt>
                <c:pt idx="4">
                  <c:v>May 2024</c:v>
                </c:pt>
                <c:pt idx="5">
                  <c:v>Jun 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23-4461-8673-A11714EBCB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8B6508">
              <a:alpha val="14000"/>
            </a:srgbClr>
          </a:solidFill>
          <a:ln w="12700">
            <a:solidFill>
              <a:srgbClr val="8B650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8B6508">
              <a:alpha val="24000"/>
            </a:srgbClr>
          </a:solidFill>
          <a:ln w="12700">
            <a:solidFill>
              <a:srgbClr val="8B650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27"/>
                </a:solidFill>
              </a:rPr>
              <a:t>GOLD TEAM  ·  DATABASE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Willson Financial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Case Study | Complete Solution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114800" cy="3657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Kobe Alexander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9169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Samuel Dirr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255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Sebastian Siqueiros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593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Zachary White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681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Professor Sue Sampson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06240" cy="1143000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43584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7101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1338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2688" y="12435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Group Introduction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1591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Meet Gold Team &amp; our roles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377440"/>
            <a:ext cx="420624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2377440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1480" y="2542032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5694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" y="24323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32688" y="2542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Case Study Background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32688" y="2889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The Willson Financial Case Study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3675888"/>
            <a:ext cx="4206240" cy="1143000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74320" y="3675888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11480" y="3840480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679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11480" y="373075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32688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Entity Relationship Diagram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32688" y="4187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Finalized ERD | 7 tables, 5 relationships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09160" y="1078992"/>
            <a:ext cx="420624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709160" y="1078992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846320" y="1243584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27101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46320" y="11338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367528" y="12435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Database Build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67528" y="1591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CREATE tables, insert records, display data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709160" y="2377440"/>
            <a:ext cx="4206240" cy="1143000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709160" y="2377440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56946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46320" y="24323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05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367528" y="2542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Business Reports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367528" y="2889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Three queries, results &amp; report summary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4709160" y="3675888"/>
            <a:ext cx="420624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4709160" y="3675888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4846320" y="3840480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867912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846320" y="373075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06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5367528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Database App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367528" y="4187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Tkinter GUI, tech stack &amp; key assumptions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88136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2588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243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</a:rPr>
              <a:t>Samuel Dirr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3544" y="1554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Database Architect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3192" y="19751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Finalized ERD, data types &amp; constraints, 3NF compliance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097280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17720" y="1097280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298448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32588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12664" y="1243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</a:rPr>
              <a:t>Kobe Alexander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12664" y="1554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Data &amp; Population Lead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82312" y="19751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CREATE TABLE scripts, sample data insertion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" y="2944368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28600" y="2944368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3145536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17296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3544" y="3090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Sebastian Siqueiros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923544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Reports &amp; Queries Lead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93192" y="3822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Report queries, display scripts &amp; screenshots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617720" y="2944368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617720" y="2944368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754880" y="3145536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3172968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12664" y="3090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Zachary White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312664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Documentation Lead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782312" y="3822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Word documents, presentation &amp; project coordination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Background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</a:rPr>
              <a:t>Jake and Ned Willson identified an underserved market in their small New Mexico town, only one financial firm existed to serve a growing population of ranchers, farmers, and retirees. Both earned CFA licenses; Ned also holds an MBA. They founded Willson Financial, registered with the SEC, and hired Phoenix Two Star (Office Administrator) and June Santos (Compliance Manager, part-time).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0" y="914400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89320" y="914400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Jake Willson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243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Co-Founder / CFA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1700784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89320" y="1700784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Ned Willson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0299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Co-Founder / CFA, MBA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2487168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89320" y="2487168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25420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Phoenix Two Star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8163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Office Administrator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273552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3328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June Santos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6027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Compliance Manager (PT)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487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</a:rPr>
              <a:t>The Three Business Questions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310896" cy="310896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2926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How many clients were added each month over the past six months?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310896" cy="310896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" y="35844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What is the average asset value across all clients?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310896" cy="310896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" y="42428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Which clients have more than 10 transactions in a single month?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1043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Diagram</a:t>
            </a:r>
            <a:endParaRPr lang="en-US" sz="2600" dirty="0"/>
          </a:p>
        </p:txBody>
      </p:sp>
      <p:pic>
        <p:nvPicPr>
          <p:cNvPr id="4" name="Image 0" descr="/home/claude/erd.png"/>
          <p:cNvPicPr>
            <a:picLocks noChangeAspect="1"/>
          </p:cNvPicPr>
          <p:nvPr/>
        </p:nvPicPr>
        <p:blipFill>
          <a:blip r:embed="rId3"/>
          <a:srcRect l="2007" t="7215" r="2277" b="8057"/>
          <a:stretch>
            <a:fillRect/>
          </a:stretch>
        </p:blipFill>
        <p:spPr>
          <a:xfrm>
            <a:off x="548640" y="702165"/>
            <a:ext cx="6113416" cy="4441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18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Crow's Foot Notation  ·  7 Entities  ·  5 Relationships  ·  All tables in 3NF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| 7 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Jake, Ned, Phoenix, June + staff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4206240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2103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" y="2468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CFA/MBA credentialed advisors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3580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31089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" y="3474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NM ranchers, farmers, retirees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4206240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404164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41148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" y="4480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Individual Brokerage, IRA, Retirement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2412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02412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1184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01184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Deposits &amp; withdrawals, CHECK &gt;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29968"/>
            <a:ext cx="4206240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02996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1184" y="2103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01184" y="2468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Client-advisor meeting records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3580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03580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01184" y="31089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COMPLIANCE_RECORD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3474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SEC review outcomes | June Santos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133088"/>
            <a:ext cx="4206240" cy="804672"/>
          </a:xfrm>
          <a:prstGeom prst="rect">
            <a:avLst/>
          </a:prstGeom>
          <a:solidFill>
            <a:srgbClr val="FFF8DC"/>
          </a:solidFill>
          <a:ln w="63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4200"/>
                </a:solidFill>
              </a:rPr>
              <a:t>All tables verified in Third Normal Form — no partial or transitive dependencies.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2 | Table Creation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create_tables.py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Connects to willson_financial via .env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883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Creates all 7 tables in dependency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EMPLOYEE &amp; ADVISOR first (no FK deps)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CLIENT references ADVISOR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ACCOUNT references CLIENT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TRANSACTION references ACCOUNT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APPOINTMENT references CLIENT &amp; ADVISOR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25696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COMPLIANCE_RECORD (no dependencies)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480560" cy="1641349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ss_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70432"/>
            <a:ext cx="4251960" cy="12330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0" y="2944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insert_records.py  — 6 records per table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0" y="3255264"/>
            <a:ext cx="4434840" cy="1764792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/home/claude/ss_ins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401568"/>
            <a:ext cx="4147457" cy="1561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2 | Data Display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display_tables.py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350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</a:rPr>
              <a:t>Runs SELECT * on all 7 tables and prints every record to the console. Verifies data was inserted correctly and is fully retrievable.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E2473-E2D1-6B83-5143-8AC9624A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07" y="1663036"/>
            <a:ext cx="3453970" cy="2020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BD34E6-910B-2D3B-D7F0-75021EFBD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337" y="1671713"/>
            <a:ext cx="2203257" cy="31416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F5ED19-3024-D1C4-6CAD-0AD2B295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921" y="1663036"/>
            <a:ext cx="2941395" cy="2012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1 | Monthly Client Growth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</a:rPr>
              <a:t>Business Question: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C1C"/>
                </a:solidFill>
              </a:rPr>
              <a:t>How many clients have been added for each of the past six months?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27632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627632"/>
            <a:ext cx="3337560" cy="2011680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0" y="1737360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
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DATE_FORMAT(
    enrollment_date,
    '%Y-%m') AS month,
  COUNT(client_id)
    AS total_clients
</a:t>
            </a: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
</a:t>
            </a: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
</a:t>
            </a: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month;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32120" y="3767328"/>
            <a:ext cx="3337560" cy="91440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3822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200"/>
                </a:solidFill>
              </a:rPr>
              <a:t>Result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4059936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Mostly one client per month; January and March each saw two enrollments, totaling 8 clients across Jan–Jun 2024.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</a:rPr>
              <a:t>Result: 8 clients total — Jan &amp; Mar had 2 each; Feb, Apr, May, Jun had 1 each (Jan–Jun 2024).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2 | Average Client Assets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</a:rPr>
              <a:t>Business Question: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C1C"/>
                </a:solidFill>
              </a:rPr>
              <a:t>What is the average amount of assets (in currency) for the entire client list?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023360" cy="219456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02336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</a:rPr>
              <a:t>Average Balance | All Clients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$58,525.38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USD  ·  Across 6 client accounts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4206240" cy="384048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664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Roy Castillo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Brokerage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1700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$45,000.00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48256"/>
            <a:ext cx="42062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084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Linda Begay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24942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IRA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21214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$82,500.50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206240" cy="384048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5054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Harold Thornton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6700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Brokerage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25420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$15,000.75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9504"/>
            <a:ext cx="42062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Gloria Padilla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0906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Retirement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0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$132,000.00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310128"/>
            <a:ext cx="4206240" cy="384048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346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Eugene Trujillo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5112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Brokerage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$9,200.25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730752"/>
            <a:ext cx="42062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7673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Martha Sandoval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9319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IRA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3803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$67,450.80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4256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ROUND(AVG(balance), 2) AS avg_assets FROM ACCOUNT;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3 | High Transaction Clients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</a:rPr>
              <a:t>Business Question: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C1C"/>
                </a:solidFill>
              </a:rPr>
              <a:t>How many clients have more than 10 transactions in a single month?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4114800" cy="786384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09344"/>
            <a:ext cx="64008" cy="78638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Gloria Padilla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1938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Account 4 — Retirement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00784"/>
            <a:ext cx="1097280" cy="56692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700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 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EAC0"/>
                </a:solidFill>
              </a:rPr>
              <a:t>Feb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4114800" cy="786384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64008" cy="78638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Roy Castillo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Account 1 — Individual Brokerage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615184"/>
            <a:ext cx="1097280" cy="56692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6151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 transactions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8895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EAC0"/>
                </a:solidFill>
              </a:rPr>
              <a:t>Feb 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4114800" cy="786384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64008" cy="78638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Harold Thornton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Account 3 — Individual Brokerage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529584"/>
            <a:ext cx="1097280" cy="56692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3529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 transactions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803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EAC0"/>
                </a:solidFill>
              </a:rPr>
              <a:t>Feb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609344"/>
            <a:ext cx="4206240" cy="2852928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719072"/>
            <a:ext cx="39319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
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c.first_name, c.last_name,
  DATE_FORMAT(t.transaction_date,
  '%Y-%m') AS month,
  COUNT(t.transaction_id)
  AS transaction_total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c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a
  ON c.client_id=a.client_id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`TRANSACTION` t
  ON a.account_id=t.account_id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c.client_id, month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transaction_total &gt; 10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transaction_total DESC;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</a:rPr>
              <a:t>Why it matters: These clients may need adjusted billing tiers or a dedicated advisor review.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Results | Terminal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reports.py | All three queries in a single 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70532" y="1275068"/>
            <a:ext cx="5017620" cy="3251212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ss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75" y="1316736"/>
            <a:ext cx="4435755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681728"/>
            <a:ext cx="2834640" cy="34747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47472" y="4718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 1: 8 clients total | Jan &amp; Mar: 2 each | Feb, Apr, May, Jun: 1 each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4681728"/>
            <a:ext cx="2834640" cy="34747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19272" y="4718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 2: Average assets: $58,525.38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4681728"/>
            <a:ext cx="2834640" cy="34747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91072" y="4718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 3: 3 clients exceed 10 tx in Feb 2025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base App Slid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650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228600" y="80000"/>
            <a:ext cx="9000000" cy="56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Database Entry Application</a:t>
            </a:r>
          </a:p>
        </p:txBody>
      </p:sp>
      <p:pic>
        <p:nvPicPr>
          <p:cNvPr id="10" name="App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762000"/>
            <a:ext cx="4800000" cy="3886200"/>
          </a:xfrm>
          <a:prstGeom prst="rect">
            <a:avLst/>
          </a:prstGeom>
        </p:spPr>
      </p:pic>
      <p:sp>
        <p:nvSpPr>
          <p:cNvPr id="4" name="TechHeading"/>
          <p:cNvSpPr/>
          <p:nvPr/>
        </p:nvSpPr>
        <p:spPr>
          <a:xfrm>
            <a:off x="5257200" y="762000"/>
            <a:ext cx="3657600" cy="3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 dirty="0">
                <a:solidFill>
                  <a:srgbClr val="C8951A"/>
                </a:solidFill>
                <a:latin typeface="Calibri"/>
              </a:rPr>
              <a:t>Tech Stack</a:t>
            </a:r>
          </a:p>
        </p:txBody>
      </p:sp>
      <p:sp>
        <p:nvSpPr>
          <p:cNvPr id="5" name="PythonLibLabel"/>
          <p:cNvSpPr/>
          <p:nvPr/>
        </p:nvSpPr>
        <p:spPr>
          <a:xfrm>
            <a:off x="5257200" y="1142000"/>
            <a:ext cx="3657600" cy="30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lIns="91440" rIns="91440" anchor="ctr"/>
          <a:lstStyle/>
          <a:p>
            <a:r>
              <a:rPr lang="en-US" sz="1300" b="1" dirty="0">
                <a:solidFill>
                  <a:srgbClr val="C8951A"/>
                </a:solidFill>
                <a:latin typeface="Calibri"/>
              </a:rPr>
              <a:t>Python Standard Library</a:t>
            </a:r>
          </a:p>
        </p:txBody>
      </p:sp>
      <p:sp>
        <p:nvSpPr>
          <p:cNvPr id="6" name="PythonLibs"/>
          <p:cNvSpPr/>
          <p:nvPr/>
        </p:nvSpPr>
        <p:spPr>
          <a:xfrm>
            <a:off x="5257200" y="1462000"/>
            <a:ext cx="3657600" cy="10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tkinter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Core GUI framework, widgets &amp; event bindings</a:t>
            </a:r>
          </a:p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tkinter.ttk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Treeview, Combobox, Scrollbar, Notebook</a:t>
            </a:r>
          </a:p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tkinter.messagebox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Confirmation dialogs &amp; error popups</a:t>
            </a:r>
          </a:p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re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Email &amp; phone input validation</a:t>
            </a:r>
          </a:p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datetime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YYYY-MM-DD and HH:MM:SS validation</a:t>
            </a:r>
          </a:p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os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.env file path resolution</a:t>
            </a:r>
          </a:p>
        </p:txBody>
      </p:sp>
      <p:sp>
        <p:nvSpPr>
          <p:cNvPr id="7" name="ThirdPartyLabel"/>
          <p:cNvSpPr/>
          <p:nvPr/>
        </p:nvSpPr>
        <p:spPr>
          <a:xfrm>
            <a:off x="5257200" y="2560000"/>
            <a:ext cx="3657600" cy="30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lIns="91440" rIns="91440" anchor="ctr"/>
          <a:lstStyle/>
          <a:p>
            <a:r>
              <a:rPr lang="en-US" sz="1300" b="1" dirty="0">
                <a:solidFill>
                  <a:srgbClr val="C8951A"/>
                </a:solidFill>
                <a:latin typeface="Calibri"/>
              </a:rPr>
              <a:t>Third-Party Libraries</a:t>
            </a:r>
          </a:p>
        </p:txBody>
      </p:sp>
      <p:sp>
        <p:nvSpPr>
          <p:cNvPr id="8" name="ThirdPartyLibs"/>
          <p:cNvSpPr/>
          <p:nvPr/>
        </p:nvSpPr>
        <p:spPr>
          <a:xfrm>
            <a:off x="5257200" y="2880000"/>
            <a:ext cx="36576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mysql-connector-python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MySQL connection, query execution, error handling</a:t>
            </a:r>
          </a:p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python-dotenv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Loads DB credentials from .env file</a:t>
            </a:r>
          </a:p>
        </p:txBody>
      </p:sp>
      <p:sp>
        <p:nvSpPr>
          <p:cNvPr id="9" name="MySQLLabel"/>
          <p:cNvSpPr/>
          <p:nvPr/>
        </p:nvSpPr>
        <p:spPr>
          <a:xfrm>
            <a:off x="5257200" y="3400000"/>
            <a:ext cx="3657600" cy="30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lIns="91440" rIns="91440" anchor="ctr"/>
          <a:lstStyle/>
          <a:p>
            <a:r>
              <a:rPr lang="en-US" sz="1300" b="1" dirty="0">
                <a:solidFill>
                  <a:srgbClr val="C8951A"/>
                </a:solidFill>
                <a:latin typeface="Calibri"/>
              </a:rPr>
              <a:t>MySQL &amp; Tcl/Tk</a:t>
            </a:r>
          </a:p>
        </p:txBody>
      </p:sp>
      <p:sp>
        <p:nvSpPr>
          <p:cNvPr id="11" name="MySQLDetails"/>
          <p:cNvSpPr/>
          <p:nvPr/>
        </p:nvSpPr>
        <p:spPr>
          <a:xfrm>
            <a:off x="5257200" y="3720000"/>
            <a:ext cx="3657600" cy="4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MySQL 8.0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FK constraints, error codes 1062/1451/1452</a:t>
            </a:r>
          </a:p>
          <a:p>
            <a:r>
              <a:rPr lang="en-US" sz="1100" b="1" dirty="0">
                <a:solidFill>
                  <a:srgbClr val="AAAAAA"/>
                </a:solidFill>
                <a:latin typeface="Calibri"/>
              </a:rPr>
              <a:t>Tcl/Tk 8.6</a:t>
            </a:r>
            <a:r>
              <a:rPr lang="en-US" sz="1100" b="0" dirty="0">
                <a:solidFill>
                  <a:srgbClr val="CCCCCC"/>
                </a:solidFill>
                <a:latin typeface="Calibri"/>
              </a:rPr>
              <a:t>  — Overrides system dropdown colors on Windows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228600" y="100000"/>
            <a:ext cx="6400000" cy="7144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Report Summary</a:t>
            </a:r>
          </a:p>
        </p:txBody>
      </p:sp>
      <p:sp>
        <p:nvSpPr>
          <p:cNvPr id="9" name="Subtitle"/>
          <p:cNvSpPr/>
          <p:nvPr/>
        </p:nvSpPr>
        <p:spPr>
          <a:xfrm>
            <a:off x="6800000" y="200000"/>
            <a:ext cx="2200000" cy="52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400" b="0" dirty="0">
                <a:solidFill>
                  <a:srgbClr val="C8951A"/>
                </a:solidFill>
                <a:latin typeface="Calibri"/>
              </a:rPr>
              <a:t>Key Findings at a Glance</a:t>
            </a:r>
          </a:p>
        </p:txBody>
      </p:sp>
      <p:sp>
        <p:nvSpPr>
          <p:cNvPr id="4" name="Card1"/>
          <p:cNvSpPr/>
          <p:nvPr/>
        </p:nvSpPr>
        <p:spPr>
          <a:xfrm>
            <a:off x="228600" y="1066800"/>
            <a:ext cx="8686800" cy="10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8B6508"/>
            </a:solidFill>
          </a:ln>
        </p:spPr>
        <p:txBody>
          <a:bodyPr lIns="182880" tIns="91440" rIns="182880"/>
          <a:lstStyle/>
          <a:p>
            <a:r>
              <a:rPr lang="en-US" sz="1600" b="1" dirty="0">
                <a:solidFill>
                  <a:srgbClr val="8B6508"/>
                </a:solidFill>
                <a:latin typeface="Calibri"/>
              </a:rPr>
              <a:t>Report 1 — Monthly Client Growth</a:t>
            </a:r>
          </a:p>
          <a:p>
            <a:r>
              <a:rPr lang="en-US" sz="1500" b="0" dirty="0">
                <a:solidFill>
                  <a:srgbClr val="333333"/>
                </a:solidFill>
                <a:latin typeface="Calibri"/>
              </a:rPr>
              <a:t>Willson Financial enrolled clients steadily from January through June 2024, with January and March each seeing two new clients as the firm expanded its reach.</a:t>
            </a:r>
          </a:p>
        </p:txBody>
      </p:sp>
      <p:sp>
        <p:nvSpPr>
          <p:cNvPr id="5" name="Card2"/>
          <p:cNvSpPr/>
          <p:nvPr/>
        </p:nvSpPr>
        <p:spPr>
          <a:xfrm>
            <a:off x="228600" y="2152800"/>
            <a:ext cx="8686800" cy="9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8B6508"/>
            </a:solidFill>
          </a:ln>
        </p:spPr>
        <p:txBody>
          <a:bodyPr lIns="182880" tIns="91440" rIns="182880"/>
          <a:lstStyle/>
          <a:p>
            <a:r>
              <a:rPr lang="en-US" sz="1600" b="1" dirty="0">
                <a:solidFill>
                  <a:srgbClr val="8B6508"/>
                </a:solidFill>
                <a:latin typeface="Calibri"/>
              </a:rPr>
              <a:t>Report 2 — Average Client Assets</a:t>
            </a:r>
          </a:p>
          <a:p>
            <a:r>
              <a:rPr lang="en-US" sz="1500" b="0" dirty="0">
                <a:solidFill>
                  <a:srgbClr val="333333"/>
                </a:solidFill>
                <a:latin typeface="Calibri"/>
              </a:rPr>
              <a:t>The average asset value across all six client accounts is $58,525.38 USD, ranging from $9,200.25 to $132,000.00, reflecting a diverse client base of ranchers, farmers, and retirees.</a:t>
            </a:r>
          </a:p>
        </p:txBody>
      </p:sp>
      <p:sp>
        <p:nvSpPr>
          <p:cNvPr id="6" name="Card3"/>
          <p:cNvSpPr/>
          <p:nvPr/>
        </p:nvSpPr>
        <p:spPr>
          <a:xfrm>
            <a:off x="228600" y="3138800"/>
            <a:ext cx="8686800" cy="10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8B6508"/>
            </a:solidFill>
          </a:ln>
        </p:spPr>
        <p:txBody>
          <a:bodyPr lIns="182880" tIns="91440" rIns="182880"/>
          <a:lstStyle/>
          <a:p>
            <a:r>
              <a:rPr lang="en-US" sz="1600" b="1" dirty="0">
                <a:solidFill>
                  <a:srgbClr val="8B6508"/>
                </a:solidFill>
                <a:latin typeface="Calibri"/>
              </a:rPr>
              <a:t>Report 3 — High Transaction Clients</a:t>
            </a:r>
          </a:p>
          <a:p>
            <a:r>
              <a:rPr lang="en-US" sz="1500" b="0" dirty="0">
                <a:solidFill>
                  <a:srgbClr val="333333"/>
                </a:solidFill>
                <a:latin typeface="Calibri"/>
              </a:rPr>
              <a:t>Three clients exceeded 10 transactions in February 2025 — Gloria Padilla (12), Roy Castillo (11), and Harold Thornton (11) — flagging them for potential billing tier review or dedicated advisor attention.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Assumptions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06240" cy="1170432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15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Single Primary Advisor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813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Each client has one assigned advisor. Co-advising is out of scope for this pilot.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59152"/>
            <a:ext cx="4206240" cy="11704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Asset Values Are Current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8163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Balances reflect the most recent known value | not historical time-series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94176"/>
            <a:ext cx="4206240" cy="1170432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694176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785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Enrollment = First Account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41513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A client's enrollment date equals the date their first account was opened.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24128"/>
            <a:ext cx="4206240" cy="11704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024128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1115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Compliance Is Manual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14813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June Santos enters all compliance records manually. Automated SEC feeds are out of scope.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4206240" cy="1170432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359152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USD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8163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All monetary values stored in USD. Multi-currency support not required at this stage.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94176"/>
            <a:ext cx="4206240" cy="11704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94176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785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6 Pilot Records Per Table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1513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Each table has 6 sample records. Clients reflect NM ranchers, farmers, and retirees.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8B6508">
              <a:alpha val="12000"/>
            </a:srgbClr>
          </a:solidFill>
          <a:ln w="12700">
            <a:solidFill>
              <a:srgbClr val="8B650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4114800" cy="3657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Willson Financial | Database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169164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8895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Tables Built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834640"/>
            <a:ext cx="169164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28895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834640"/>
            <a:ext cx="169164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28895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20624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Business Reports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8587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Kobe Alexander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096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Samuel Dirr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3342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Sebastian Siqueiros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572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Zachary White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Professor Sue Sampson  ·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1331</Words>
  <Application>Microsoft Office PowerPoint</Application>
  <PresentationFormat>On-screen Show (16:9)</PresentationFormat>
  <Paragraphs>206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Willson Financial Final Case Study Presentation</dc:title>
  <dc:subject/>
  <dc:creator>Gold Team</dc:creator>
  <cp:lastModifiedBy>Zachary White</cp:lastModifiedBy>
  <cp:revision>4</cp:revision>
  <dcterms:created xsi:type="dcterms:W3CDTF">2026-05-15T11:35:46Z</dcterms:created>
  <dcterms:modified xsi:type="dcterms:W3CDTF">2026-05-23T23:55:24Z</dcterms:modified>
</cp:coreProperties>
</file>